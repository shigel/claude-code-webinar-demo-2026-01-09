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- https://code.claude.com/docs/en/skills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- https://code.claude.com/docs/en/skills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- https://code.claude.com/docs/en/skills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https://code.claude.com/docs/en/skills
- https://www.anthropic.com/engineering/equipping-agents-for-the-real-world-with-agent-skills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https://code.claude.com/docs/en/skills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https://code.claude.com/docs/en/skills
- https://code.claude.com/docs/en/sub-agents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https://code.claude.com/docs/en/hooks-guide
- https://code.claude.com/docs/en/settings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- https://code.claude.com/docs/en/skills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- https://code.claude.com/docs/en/skills
- https://www.anthropic.com/engineering/effective-harnesses-for-long-running-agents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https://code.claude.com/docs/en/sub-agents
- https://code.claude.com/docs/en/skills
- https://code.claude.com/docs/en/hooks-guide
- https://code.claude.com/docs/en/settings
- https://www.anthropic.com/engineering/effective-harnesses-for-long-running-agents
- https://www.anthropic.com/engineering/building-agents-with-the-claude-agent-sdk
- https://www.anthropic.com/engineering/equipping-agents-for-the-real-world-with-agent-skills
- https://github.com/anthropics/claude-code
- https://github.com/anthropics/skills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txBody>
          <a:bodyPr wrap="square" lIns="5715" tIns="5715" rIns="5715" bIns="5715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リサーチ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/ Skills / Harness（ハーネス）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10972800" cy="3200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社内勉強会向け（スライド雛形：撮りどころ/デモ手順込み）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698480" cy="32461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この発表で持ち帰ること</a:t>
            </a:r>
            <a:pPr indent="0" marL="0">
              <a:buNone/>
            </a:pP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と Skills の違いを「設計の言葉」で説明できる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Harness（長時間運用）の失敗モードと対策を押さえる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デモを “再現可能な手順” と “証拠スクショ” に落とす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全体像（3つの概念）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/ Skills / Harness を混同しないためのフレーム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アジェンダ</a:t>
            </a:r>
            <a:pPr indent="0" marL="0">
              <a:buNone/>
            </a:pP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Subagents：役割（人格）とツール権限を切り分け、別コンテキストで並行化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Skills：手順・知識・スクリプトを “必要時だけ” 読み込ませる（progressive disclosure）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Harness：進捗・検証・引き継ぎを強制する運用枠組み（長時間/複数セッション対策）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デモ：同じタスクを 3段階で改善（Subagents → Skills → Harness）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309360"/>
            <a:ext cx="10698480" cy="347472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デモは “同じタスク” を3段階で改善して見せると刺さる（再現性が出る）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Claude Codeのメンタルモデル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「人格」「知識」「運用枠組み」を分離する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結論：Subagents/Skillsは “部品”。Harnessは “失敗モードを潰す運用設計”。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360152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263252"/>
            </a:solidFill>
          </a:ln>
        </p:spPr>
        <p:txBody>
          <a:bodyPr wrap="square" lIns="3810" tIns="3810" rIns="3810" bIns="381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Harness（運用枠組み）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長時間/複数セッションの進捗・検証・引き継ぎを設計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10360152" cy="1325880"/>
          </a:xfrm>
          <a:prstGeom prst="rect">
            <a:avLst/>
          </a:prstGeom>
          <a:solidFill>
            <a:srgbClr val="173057"/>
          </a:solidFill>
          <a:ln w="12700">
            <a:solidFill>
              <a:srgbClr val="263252"/>
            </a:solidFill>
          </a:ln>
        </p:spPr>
        <p:txBody>
          <a:bodyPr wrap="square" lIns="3810" tIns="3810" rIns="3810" bIns="381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Skills（知識・手順・スクリプト）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SKILL.md＋補助ファイルを必要時だけロード（省コンテキスト）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09160"/>
            <a:ext cx="10360152" cy="1325880"/>
          </a:xfrm>
          <a:prstGeom prst="rect">
            <a:avLst/>
          </a:prstGeom>
          <a:solidFill>
            <a:srgbClr val="123B66"/>
          </a:solidFill>
          <a:ln w="12700">
            <a:solidFill>
              <a:srgbClr val="263252"/>
            </a:solidFill>
          </a:ln>
        </p:spPr>
        <p:txBody>
          <a:bodyPr wrap="square" lIns="3810" tIns="3810" rIns="3810" bIns="381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Subagents（役割・権限・別コンテキスト）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専門家を切り出して並行化/コンテキスト汚染を防止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Subagents（Claude Code）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定義・保存場所・呼び出し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548640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pPr indent="0" marL="0">
              <a:buNone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特定目的の “人格” を事前定義し、タスクを委譲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サブエージェントは別コンテキスト（本線を汚さない）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tools/model/permissionMode を分離して制御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作成・管理は /agents が推奨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保存先：.claude/agents（プロジェクト優先）と ~/.claude/agents（個人）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46520" y="1143000"/>
            <a:ext cx="4983480" cy="4709160"/>
          </a:xfrm>
          <a:prstGeom prst="rect">
            <a:avLst/>
          </a:prstGeom>
          <a:solidFill>
            <a:srgbClr val="0E1629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設定例（Markdown + YAML frontmatter）</a:t>
            </a:r>
            <a:pPr algn="l" indent="0" marL="0">
              <a:buNone/>
            </a:pPr>
            <a:r>
              <a:rPr lang="en-US" sz="10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name: code-reviewer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description: Review recent changes. Use proactively after edits.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tools: Read, Grep, Glob, Bash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model: sonnet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permissionMode: default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skills: pr-review, security-check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You are a senior code reviewer...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5897880"/>
            <a:ext cx="4983480" cy="32004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Subagents は Skills を自動継承しない（必要なら skills: で明示）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Subagentsの使いどころ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委譲の設計パターン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パターン（発表で使いやすい例）</a:t>
            </a:r>
            <a:pPr indent="0" marL="0">
              <a:buNone/>
            </a:pP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レビュー：code-reviewer（Read系＋lint/run）に限定し、書き換えは本線で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テスト：test-runner（Bash中心）で「再現→原因特定→最小修正」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探索：explore系（read-only）で、設計理解/仕様整理を別窓で並行化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データ解析：data-scientist（python）を限定ツールで走らせる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309360"/>
            <a:ext cx="10698480" cy="347472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コツ：サブエージェントには「成果物」「禁止事項」「使うべきツール」を具体化して渡す。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Skills（Claude Code / Claude全体）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を中心にした “発見・遅延ロード”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548640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pPr indent="0" marL="0">
              <a:buNone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“やり方” を教える Markdown（＋補助ファイル/スクリプト）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がトリガ：依頼にマッチすると自動適用（model-invoked）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disclosure：必要な時だけ追加ファイルを読む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配置場所でスコープが決まる（Enterprise / Personal / Project / Plugin）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重複名は優先順位で上書き（Enterprise→Personal→Project→Plugin）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46520" y="1143000"/>
            <a:ext cx="4983480" cy="5074920"/>
          </a:xfrm>
          <a:prstGeom prst="rect">
            <a:avLst/>
          </a:prstGeom>
          <a:solidFill>
            <a:srgbClr val="0E1629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ディレクトリ構造（例）</a:t>
            </a:r>
            <a:pPr algn="l" indent="0" marL="0">
              <a:buNone/>
            </a:pPr>
            <a:r>
              <a:rPr lang="en-US" sz="10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~/.claude/skills/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pr-review/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SKILL.md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checklist.md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scripts/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diff_summary.sh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.claude/skills/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repo-conventions/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SKILL.md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SKILL.md の最小テンプレ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トリガ精度は description がほぼ決める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166360"/>
          </a:xfrm>
          <a:prstGeom prst="rect">
            <a:avLst/>
          </a:prstGeom>
          <a:solidFill>
            <a:srgbClr val="0E1629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例：PRレビューSkill（Read-only制約付き）</a:t>
            </a:r>
            <a:pPr algn="l" indent="0" marL="0">
              <a:buNone/>
            </a:pPr>
            <a:r>
              <a:rPr lang="en-US" sz="10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name: pr-review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description: Review git diffs using our checklist. Use when asked to review code changes or prepare a PR.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allowed-tools: Read, Grep, Glob, Bash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PR Review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Checklist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 Risky diffs? (auth, payment, permissions)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2. Tests: added/updated, run locally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3. Style: naming, error handling, logging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Output format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Summary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Findings (must/should/nice-to-have)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Suggested next steps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When needed, read checklist.md for the full rubric.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allowed-tools は Claude Code 限定機能（Skill発火時のツール行使を絞れる）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Skills × Subagents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「継承しない」ので接続を設計する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292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は、メイン会話の Skills を自動継承しません。→ Subagent 側に skills: を明示して渡す。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solidFill>
            <a:srgbClr val="0E1629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接続例（skills: で Skill を付与）</a:t>
            </a:r>
            <a:pPr algn="l" indent="0" marL="0">
              <a:buNone/>
            </a:pPr>
            <a:r>
              <a:rPr lang="en-US" sz="10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name: code-reviewer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description: Review code changes for quality and best practices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skills: pr-review, security-check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You are a senior code reviewer. Follow the PR review rubric.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デモ案：①skills未指定版 → ②skills指定版に差し替え、レビュー観点の一貫性を比較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Harness（ハーネス）とは何か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「長時間」やるなら、プロセスを構造で縛る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定義（発表用に短く）</a:t>
            </a:r>
            <a:pPr indent="0" marL="0">
              <a:buNone/>
            </a:pP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= エージェントが失敗しやすいところを、構造化された手順・成果物・検証で補う “運用枠組み”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なぜ必要？：コンテキスト制限で “引き継ぎ無しの交代勤務” が起きる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だけでは不十分（途中で投げ出す/過大実装/早期勝利宣言）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対策：進捗ログ、要件/機能リスト、検証、チェックポイント（git commit）を強制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Anthropicの提案：Long-running harnessの基本形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initializer + coding agent + artifacts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548640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2段階アーキテクチャ</a:t>
            </a:r>
            <a:pPr indent="0" marL="0">
              <a:buNone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Initializer agent：最初の1回で “作業場” を整える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agent：以降は “一機能ずつ” 進め、毎回きれいに閉じる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引き継ぎの核：progress file と git history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未検証で完了宣言しがち → E2Eテストを明示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46520" y="1143000"/>
            <a:ext cx="4983480" cy="5074920"/>
          </a:xfrm>
          <a:prstGeom prst="rect">
            <a:avLst/>
          </a:prstGeom>
          <a:solidFill>
            <a:srgbClr val="0E1629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典型の成果物とセッション手順</a:t>
            </a:r>
            <a:pPr algn="l" indent="0" marL="0">
              <a:buNone/>
            </a:pPr>
            <a:r>
              <a:rPr lang="en-US" sz="10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init.sh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claude-progress.txt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feature_list.json (passes: false/true)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.git (commit log)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Session start: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read progress + git log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run init.sh + smoke test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pick 1 failing feature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Session end: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verify E2E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update passes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 commit + progress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Claude CodeでHarnessを組む部品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Hooks / Settings scope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3429000" cy="507492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CLAUDE.md（Memory）</a:t>
            </a:r>
            <a:pPr indent="0" marL="0">
              <a:buNone/>
            </a:pP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プロジェクト前提/ルールを常設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チーム標準の入口にする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Local/Project/Userのスコープを意識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25112" y="1143000"/>
            <a:ext cx="3429000" cy="507492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Hooks（強制）</a:t>
            </a:r>
            <a:pPr indent="0" marL="0">
              <a:buNone/>
            </a:pP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LLM任せをやめ、決定論で実行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例：整形、危険パスブロック、ログ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PreToolUse/SubagentStop/PreCompact 等も活用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18704" y="1143000"/>
            <a:ext cx="3511296" cy="5074920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Settings（統制）</a:t>
            </a:r>
            <a:pPr indent="0" marL="0">
              <a:buNone/>
            </a:pP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User/Project/Enterpriseで統制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Subagents/Skills/Pluginsの優先順位を明確化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“個人最適” と “チーム標準” を分離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698480" cy="347472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ハーネス視点では「必ず起きてほしいこと」を Hooks に寄せるのが効果的。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r>
              <a:t>11. デモ構成（例：20分）</a:t>
            </a:r>
          </a:p>
          <a:p>
            <a:r>
              <a:t>撮影/スクショのタイミング込み</a:t>
            </a:r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325880" cy="566928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57400" y="1143000"/>
            <a:ext cx="4983480" cy="566928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40880" y="1143000"/>
            <a:ext cx="2971800" cy="566928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見せる画面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12680" y="1143000"/>
            <a:ext cx="1417320" cy="566928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132588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0:00–2:00</a:t>
            </a:r>
          </a:p>
        </p:txBody>
      </p:sp>
      <p:sp>
        <p:nvSpPr>
          <p:cNvPr id="8" name="Text 6"/>
          <p:cNvSpPr/>
          <p:nvPr/>
        </p:nvSpPr>
        <p:spPr>
          <a:xfrm>
            <a:off x="2057400" y="1709928"/>
            <a:ext cx="498348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前提：失敗モード提示（one-shot / 中途半端 / 勝利宣言）</a:t>
            </a:r>
          </a:p>
          <a:p>
            <a:r>
              <a:t>→ 今日のゴールとデモrepoの説明</a:t>
            </a:r>
          </a:p>
        </p:txBody>
      </p:sp>
      <p:sp>
        <p:nvSpPr>
          <p:cNvPr id="9" name="Text 7"/>
          <p:cNvSpPr/>
          <p:nvPr/>
        </p:nvSpPr>
        <p:spPr>
          <a:xfrm>
            <a:off x="7040880" y="1709928"/>
            <a:ext cx="297180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Slide + README</a:t>
            </a:r>
          </a:p>
        </p:txBody>
      </p:sp>
      <p:sp>
        <p:nvSpPr>
          <p:cNvPr id="10" name="Text 8"/>
          <p:cNvSpPr/>
          <p:nvPr/>
        </p:nvSpPr>
        <p:spPr>
          <a:xfrm>
            <a:off x="10012680" y="1709928"/>
            <a:ext cx="141732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—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32588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2:00–6:30</a:t>
            </a:r>
          </a:p>
        </p:txBody>
      </p:sp>
      <p:sp>
        <p:nvSpPr>
          <p:cNvPr id="12" name="Text 10"/>
          <p:cNvSpPr/>
          <p:nvPr/>
        </p:nvSpPr>
        <p:spPr>
          <a:xfrm>
            <a:off x="2057400" y="2276856"/>
            <a:ext cx="498348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Subagents：test-runner で failing test を修正（テスト通過が証拠）</a:t>
            </a:r>
          </a:p>
        </p:txBody>
      </p:sp>
      <p:sp>
        <p:nvSpPr>
          <p:cNvPr id="13" name="Text 11"/>
          <p:cNvSpPr/>
          <p:nvPr/>
        </p:nvSpPr>
        <p:spPr>
          <a:xfrm>
            <a:off x="7040880" y="2276856"/>
            <a:ext cx="297180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ターミナル（unittest → Claude Code）</a:t>
            </a:r>
          </a:p>
        </p:txBody>
      </p:sp>
      <p:sp>
        <p:nvSpPr>
          <p:cNvPr id="14" name="Text 12"/>
          <p:cNvSpPr/>
          <p:nvPr/>
        </p:nvSpPr>
        <p:spPr>
          <a:xfrm>
            <a:off x="10012680" y="2276856"/>
            <a:ext cx="141732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.claude/agents + 修正差分</a:t>
            </a:r>
          </a:p>
        </p:txBody>
      </p:sp>
      <p:sp>
        <p:nvSpPr>
          <p:cNvPr id="15" name="Text 13"/>
          <p:cNvSpPr/>
          <p:nvPr/>
        </p:nvSpPr>
        <p:spPr>
          <a:xfrm>
            <a:off x="731520" y="2843784"/>
            <a:ext cx="132588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6:30–10:00</a:t>
            </a:r>
          </a:p>
        </p:txBody>
      </p:sp>
      <p:sp>
        <p:nvSpPr>
          <p:cNvPr id="16" name="Text 14"/>
          <p:cNvSpPr/>
          <p:nvPr/>
        </p:nvSpPr>
        <p:spPr>
          <a:xfrm>
            <a:off x="2057400" y="2843784"/>
            <a:ext cx="498348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Skills：pr-review Skill を使ったレビュー（code-reviewer subagent）</a:t>
            </a:r>
          </a:p>
          <a:p>
            <a:r>
              <a:t>※ SubagentはSkill継承しない→ skills: で接続</a:t>
            </a:r>
          </a:p>
        </p:txBody>
      </p:sp>
      <p:sp>
        <p:nvSpPr>
          <p:cNvPr id="17" name="Text 15"/>
          <p:cNvSpPr/>
          <p:nvPr/>
        </p:nvSpPr>
        <p:spPr>
          <a:xfrm>
            <a:off x="7040880" y="2843784"/>
            <a:ext cx="297180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SKILL.md + レビュー出力</a:t>
            </a:r>
          </a:p>
        </p:txBody>
      </p:sp>
      <p:sp>
        <p:nvSpPr>
          <p:cNvPr id="18" name="Text 16"/>
          <p:cNvSpPr/>
          <p:nvPr/>
        </p:nvSpPr>
        <p:spPr>
          <a:xfrm>
            <a:off x="10012680" y="2843784"/>
            <a:ext cx="141732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.claude/skills + レビュー結果</a:t>
            </a:r>
          </a:p>
        </p:txBody>
      </p:sp>
      <p:sp>
        <p:nvSpPr>
          <p:cNvPr id="19" name="Text 17"/>
          <p:cNvSpPr/>
          <p:nvPr/>
        </p:nvSpPr>
        <p:spPr>
          <a:xfrm>
            <a:off x="731520" y="3410712"/>
            <a:ext cx="132588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10:00–16:00</a:t>
            </a:r>
          </a:p>
        </p:txBody>
      </p:sp>
      <p:sp>
        <p:nvSpPr>
          <p:cNvPr id="20" name="Text 18"/>
          <p:cNvSpPr/>
          <p:nvPr/>
        </p:nvSpPr>
        <p:spPr>
          <a:xfrm>
            <a:off x="2057400" y="3410712"/>
            <a:ext cx="498348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Harness：feature_list.json（passesのみ変更）＋ claude-progress.txt 追記</a:t>
            </a:r>
          </a:p>
          <a:p>
            <a:r>
              <a:t>＋ init.sh の“型”を固定</a:t>
            </a:r>
          </a:p>
        </p:txBody>
      </p:sp>
      <p:sp>
        <p:nvSpPr>
          <p:cNvPr id="21" name="Text 19"/>
          <p:cNvSpPr/>
          <p:nvPr/>
        </p:nvSpPr>
        <p:spPr>
          <a:xfrm>
            <a:off x="7040880" y="3410712"/>
            <a:ext cx="297180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feature_list.json / progress / git log</a:t>
            </a:r>
          </a:p>
        </p:txBody>
      </p:sp>
      <p:sp>
        <p:nvSpPr>
          <p:cNvPr id="22" name="Text 20"/>
          <p:cNvSpPr/>
          <p:nvPr/>
        </p:nvSpPr>
        <p:spPr>
          <a:xfrm>
            <a:off x="10012680" y="3410712"/>
            <a:ext cx="1417320" cy="566928"/>
          </a:xfrm>
          <a:prstGeom prst="rect">
            <a:avLst/>
          </a:prstGeom>
          <a:solidFill>
            <a:srgbClr val="0C1427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claude-progress / feature_list / init.sh</a:t>
            </a:r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132588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16:00–20:00</a:t>
            </a:r>
          </a:p>
        </p:txBody>
      </p:sp>
      <p:sp>
        <p:nvSpPr>
          <p:cNvPr id="24" name="Text 22"/>
          <p:cNvSpPr/>
          <p:nvPr/>
        </p:nvSpPr>
        <p:spPr>
          <a:xfrm>
            <a:off x="2057400" y="3977640"/>
            <a:ext cx="498348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Hooks（任意）：PostToolUseでテスト失敗を検知→続行をブロック</a:t>
            </a:r>
          </a:p>
          <a:p>
            <a:r>
              <a:t>まとめ：チームで標準化する最小セット</a:t>
            </a:r>
          </a:p>
        </p:txBody>
      </p:sp>
      <p:sp>
        <p:nvSpPr>
          <p:cNvPr id="25" name="Text 23"/>
          <p:cNvSpPr/>
          <p:nvPr/>
        </p:nvSpPr>
        <p:spPr>
          <a:xfrm>
            <a:off x="7040880" y="3977640"/>
            <a:ext cx="297180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.claude/settings.json</a:t>
            </a:r>
          </a:p>
        </p:txBody>
      </p:sp>
      <p:sp>
        <p:nvSpPr>
          <p:cNvPr id="26" name="Text 24"/>
          <p:cNvSpPr/>
          <p:nvPr/>
        </p:nvSpPr>
        <p:spPr>
          <a:xfrm>
            <a:off x="10012680" y="3977640"/>
            <a:ext cx="1417320" cy="566928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2540" tIns="2540" rIns="2540" bIns="2540" rtlCol="0" anchor="ctr"/>
          <a:lstStyle/>
          <a:p>
            <a:r>
              <a:t>hooks設定 + スクリプト</a:t>
            </a:r>
          </a:p>
        </p:txBody>
      </p:sp>
      <p:sp>
        <p:nvSpPr>
          <p:cNvPr id="27" name="Text 25"/>
          <p:cNvSpPr/>
          <p:nvPr/>
        </p:nvSpPr>
        <p:spPr>
          <a:xfrm>
            <a:off x="731520" y="6309360"/>
            <a:ext cx="10698480" cy="347472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r>
              <a:t>録画するなら：ターミナルはフォント大（&gt;=16pt）＋コマンドはコピペ（入力事故回避）。</a:t>
            </a:r>
          </a:p>
          <a:p>
            <a:r>
              <a:t>10分30秒版は Row2+Row3 を中心にやり、Harness/Hooksは概念だけに落とす。</a:t>
            </a:r>
          </a:p>
        </p:txBody>
      </p:sp>
      <p:sp>
        <p:nvSpPr>
          <p:cNvPr id="28" name="Text 26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撮りどころチェックリスト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スクショ/動画を “説明” ではなく “証拠” にする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最低限のセット</a:t>
            </a:r>
            <a:pPr indent="0" marL="0">
              <a:buNone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Subagents：/agents一覧（Built-in / User / Project の区別が見える画）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Subagentファイル：.claude/agents/*.md の YAML frontmatter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Skills：What Skills are available? の応答（Skillが認識されている証拠）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SKILL.md：name/description/allowed-tools と、補助ファイル参照（progressive disclosure）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Skills×Subagents：skills: あり/なしの比較（“継承しない” を実演）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Harness：claude-progress.txt と git log（セッション引き継ぎの核）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（可能なら）E2E検証：smoke test の実行ログ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A2E"/>
          </a:solidFill>
          <a:ln>
            <a:solidFill>
              <a:srgbClr val="111A2E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参考資料（一次ソース中心）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勉強会の “出典” をここに集約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74920"/>
          </a:xfrm>
          <a:prstGeom prst="rect">
            <a:avLst/>
          </a:prstGeom>
          <a:solidFill>
            <a:srgbClr val="141F38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pPr indent="0" marL="0">
              <a:buNone/>
            </a:pP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Docs: Subagents / Skills / Hooks / Settings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Effective harnesses for long-running agents (2025-11-26)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Building agents with the Claude Agent SDK (2025-09-29)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Equipping agents for the real world with Agent Skills (2025-10-16)</a:t>
            </a:r>
            <a:endParaRPr lang="en-US" sz="1600" dirty="0"/>
          </a:p>
          <a:p>
            <a:pPr marL="215900" indent="-215900">
              <a:buSzPct val="100000"/>
              <a:buChar char="•"/>
            </a:pPr>
            <a:r>
              <a:rPr lang="en-US" sz="1500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anthropics/claude-code, anthropics/skills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309360"/>
            <a:ext cx="10698480" cy="347472"/>
          </a:xfrm>
          <a:prstGeom prst="rect">
            <a:avLst/>
          </a:prstGeom>
          <a:solidFill>
            <a:srgbClr val="0F1A33"/>
          </a:solidFill>
          <a:ln w="12700">
            <a:solidFill>
              <a:srgbClr val="263252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URLはスライドノートに列挙（社内共有でコピペしやすい）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11696"/>
            <a:ext cx="11109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Subagents / Skills / Harness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2026-01-05T10:18:57Z</dcterms:created>
  <dcterms:modified xsi:type="dcterms:W3CDTF">2026-01-05T10:18:57Z</dcterms:modified>
</cp:coreProperties>
</file>